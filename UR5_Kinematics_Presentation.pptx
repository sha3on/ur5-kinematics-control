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Introduce the project: a full robot-motion pipeline on the UR5 in MATLAB — FK, IK, trajectory planning, PD control, tracking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stages. FK is the easy direction (angles-&gt;pose). IK is the reverse and is hard. Everything downstream is about moving smoothly and following the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FK = multiply joint transforms along the chain. Two configs tested to prove distinct, sensible poses.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IK: numerical solver, seeded sequentially. Key point: we verify by feeding the answer back into FK — error under 1e-6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Quintic = smooth ease in/out. Velocity and acceleration hit zero at each waypoint (dashed lines).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 = proportional (position error) + derivative (velocity error, damps overshoot). Say the limitation out loud: decoupled joints, no gravity/friction.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numbers slide — pause on IK &lt;1e-6 m and RMS &lt;0.8 deg.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0"/>
            <a:ext cx="12161520" cy="1371600"/>
          </a:xfrm>
          <a:prstGeom prst="rect">
            <a:avLst/>
          </a:prstGeom>
          <a:solidFill>
            <a:srgbClr val="10394D"/>
          </a:solidFill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MDM-M-1  ·  DIGITAL TOOLS IN DEVELOPMENT AND PRODUCTION  ·  SS26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77240" cy="777240"/>
          </a:xfrm>
          <a:prstGeom prst="ellipse">
            <a:avLst/>
          </a:prstGeom>
          <a:solidFill>
            <a:srgbClr val="0F766E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icons/robo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4365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2801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Robotics Assignment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9728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Manipulator Kinematics, Trajectory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Planning &amp; Joint-Level Control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640080" y="3977640"/>
            <a:ext cx="2048256" cy="457200"/>
          </a:xfrm>
          <a:prstGeom prst="roundRect">
            <a:avLst>
              <a:gd name="adj" fmla="val 50000"/>
            </a:avLst>
          </a:prstGeom>
          <a:solidFill>
            <a:srgbClr val="10394D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977640"/>
            <a:ext cx="20482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Forward Kinematics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06624" y="397764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852928" y="3977640"/>
            <a:ext cx="2048256" cy="457200"/>
          </a:xfrm>
          <a:prstGeom prst="roundRect">
            <a:avLst>
              <a:gd name="adj" fmla="val 50000"/>
            </a:avLst>
          </a:prstGeom>
          <a:solidFill>
            <a:srgbClr val="10394D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52928" y="3977640"/>
            <a:ext cx="20482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Inverse Kinematics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19472" y="397764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65776" y="3977640"/>
            <a:ext cx="1184148" cy="457200"/>
          </a:xfrm>
          <a:prstGeom prst="roundRect">
            <a:avLst>
              <a:gd name="adj" fmla="val 50000"/>
            </a:avLst>
          </a:prstGeom>
          <a:solidFill>
            <a:srgbClr val="10394D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65776" y="3977640"/>
            <a:ext cx="11841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Waypoints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68212" y="397764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414516" y="3977640"/>
            <a:ext cx="2048256" cy="457200"/>
          </a:xfrm>
          <a:prstGeom prst="roundRect">
            <a:avLst>
              <a:gd name="adj" fmla="val 50000"/>
            </a:avLst>
          </a:prstGeom>
          <a:solidFill>
            <a:srgbClr val="10394D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14516" y="3977640"/>
            <a:ext cx="20482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Quintic Trajectory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481060" y="397764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627364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10394D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27364" y="397764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 Control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925812" y="397764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0072116" y="3977640"/>
            <a:ext cx="1088136" cy="457200"/>
          </a:xfrm>
          <a:prstGeom prst="roundRect">
            <a:avLst>
              <a:gd name="adj" fmla="val 50000"/>
            </a:avLst>
          </a:prstGeom>
          <a:solidFill>
            <a:srgbClr val="10394D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72116" y="3977640"/>
            <a:ext cx="10881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" y="59253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Robot:  </a:t>
            </a:r>
            <a:r>
              <a:rPr lang="en-US" sz="13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Universal Robots UR5  (6-DOF)      </a:t>
            </a:r>
            <a:r>
              <a:rPr lang="en-US" sz="13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Tool:  </a:t>
            </a:r>
            <a:r>
              <a:rPr lang="en-US" sz="13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MATLAB · Robotics System Toolbox      </a:t>
            </a:r>
            <a:r>
              <a:rPr lang="en-US" sz="13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Controller:  </a:t>
            </a:r>
            <a:r>
              <a:rPr lang="en-US" sz="13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 on all 6 joints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00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INFORMATION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 &amp; Course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0B2A3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0F766E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icons/cogs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2695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48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2432304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MDM-M-1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Tools in Development and Production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3886200"/>
            <a:ext cx="429768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Semester    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SS26
</a:t>
            </a:r>
            <a:r>
              <a:rPr lang="en-US" sz="14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Deliverable    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MATLAB pipeline + reflection sheet
</a:t>
            </a:r>
            <a:r>
              <a:rPr lang="en-US" sz="14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    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R1 – R9  (all satisfied)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5216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MEMBERS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52160" y="20116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Members</a:t>
            </a:r>
            <a:endParaRPr lang="en-US" sz="2200" dirty="0"/>
          </a:p>
        </p:txBody>
      </p:sp>
      <p:sp>
        <p:nvSpPr>
          <p:cNvPr id="14" name="Shape 11"/>
          <p:cNvSpPr/>
          <p:nvPr>
            <p:custDataLst>
              <p:tags r:id="rId2"/>
            </p:custDataLst>
          </p:nvPr>
        </p:nvSpPr>
        <p:spPr>
          <a:xfrm>
            <a:off x="5852160" y="2697480"/>
            <a:ext cx="5806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>
            <p:custDataLst>
              <p:tags r:id="rId3"/>
            </p:custDataLst>
          </p:nvPr>
        </p:nvSpPr>
        <p:spPr>
          <a:xfrm>
            <a:off x="6080760" y="2843784"/>
            <a:ext cx="457200" cy="457200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16" name="Text 13"/>
          <p:cNvSpPr/>
          <p:nvPr>
            <p:custDataLst>
              <p:tags r:id="rId4"/>
            </p:custDataLst>
          </p:nvPr>
        </p:nvSpPr>
        <p:spPr>
          <a:xfrm>
            <a:off x="6080760" y="28437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4"/>
          <p:cNvSpPr/>
          <p:nvPr>
            <p:custDataLst>
              <p:tags r:id="rId5"/>
            </p:custDataLst>
          </p:nvPr>
        </p:nvSpPr>
        <p:spPr>
          <a:xfrm>
            <a:off x="6720840" y="27889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Mostafa Mohamed</a:t>
            </a:r>
            <a:endParaRPr lang="en-US" sz="1600" dirty="0"/>
          </a:p>
        </p:txBody>
      </p:sp>
      <p:sp>
        <p:nvSpPr>
          <p:cNvPr id="18" name="Text 15"/>
          <p:cNvSpPr/>
          <p:nvPr>
            <p:custDataLst>
              <p:tags r:id="rId6"/>
            </p:custDataLst>
          </p:nvPr>
        </p:nvSpPr>
        <p:spPr>
          <a:xfrm>
            <a:off x="6720840" y="309981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9" name="Shape 16"/>
          <p:cNvSpPr/>
          <p:nvPr>
            <p:custDataLst>
              <p:tags r:id="rId7"/>
            </p:custDataLst>
          </p:nvPr>
        </p:nvSpPr>
        <p:spPr>
          <a:xfrm>
            <a:off x="5852160" y="3566160"/>
            <a:ext cx="5806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>
            <p:custDataLst>
              <p:tags r:id="rId8"/>
            </p:custDataLst>
          </p:nvPr>
        </p:nvSpPr>
        <p:spPr>
          <a:xfrm>
            <a:off x="6080760" y="3712464"/>
            <a:ext cx="457200" cy="457200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21" name="Text 18"/>
          <p:cNvSpPr/>
          <p:nvPr>
            <p:custDataLst>
              <p:tags r:id="rId9"/>
            </p:custDataLst>
          </p:nvPr>
        </p:nvSpPr>
        <p:spPr>
          <a:xfrm>
            <a:off x="6080760" y="371246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19"/>
          <p:cNvSpPr/>
          <p:nvPr>
            <p:custDataLst>
              <p:tags r:id="rId10"/>
            </p:custDataLst>
          </p:nvPr>
        </p:nvSpPr>
        <p:spPr>
          <a:xfrm>
            <a:off x="6720840" y="36576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ym typeface="+mn-ea"/>
              </a:rPr>
              <a:t>Nadine Labib</a:t>
            </a:r>
            <a:endParaRPr lang="en-US" sz="1600" dirty="0"/>
          </a:p>
        </p:txBody>
      </p:sp>
      <p:sp>
        <p:nvSpPr>
          <p:cNvPr id="23" name="Text 20"/>
          <p:cNvSpPr/>
          <p:nvPr>
            <p:custDataLst>
              <p:tags r:id="rId11"/>
            </p:custDataLst>
          </p:nvPr>
        </p:nvSpPr>
        <p:spPr>
          <a:xfrm>
            <a:off x="6720840" y="396849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Shape 21"/>
          <p:cNvSpPr/>
          <p:nvPr>
            <p:custDataLst>
              <p:tags r:id="rId12"/>
            </p:custDataLst>
          </p:nvPr>
        </p:nvSpPr>
        <p:spPr>
          <a:xfrm>
            <a:off x="5852160" y="4434840"/>
            <a:ext cx="5806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>
            <p:custDataLst>
              <p:tags r:id="rId13"/>
            </p:custDataLst>
          </p:nvPr>
        </p:nvSpPr>
        <p:spPr>
          <a:xfrm>
            <a:off x="6080760" y="4581144"/>
            <a:ext cx="457200" cy="457200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26" name="Text 23"/>
          <p:cNvSpPr/>
          <p:nvPr>
            <p:custDataLst>
              <p:tags r:id="rId14"/>
            </p:custDataLst>
          </p:nvPr>
        </p:nvSpPr>
        <p:spPr>
          <a:xfrm>
            <a:off x="6080760" y="45811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/>
          <p:nvPr>
            <p:custDataLst>
              <p:tags r:id="rId15"/>
            </p:custDataLst>
          </p:nvPr>
        </p:nvSpPr>
        <p:spPr>
          <a:xfrm>
            <a:off x="6720840" y="45262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Dalia Hussein</a:t>
            </a:r>
            <a:endParaRPr lang="en-US" sz="1600" dirty="0"/>
          </a:p>
        </p:txBody>
      </p:sp>
      <p:sp>
        <p:nvSpPr>
          <p:cNvPr id="28" name="Text 25"/>
          <p:cNvSpPr/>
          <p:nvPr>
            <p:custDataLst>
              <p:tags r:id="rId16"/>
            </p:custDataLst>
          </p:nvPr>
        </p:nvSpPr>
        <p:spPr>
          <a:xfrm>
            <a:off x="6720840" y="483717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9" name="Shape 26"/>
          <p:cNvSpPr/>
          <p:nvPr>
            <p:custDataLst>
              <p:tags r:id="rId17"/>
            </p:custDataLst>
          </p:nvPr>
        </p:nvSpPr>
        <p:spPr>
          <a:xfrm>
            <a:off x="5852160" y="5303520"/>
            <a:ext cx="5806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>
            <p:custDataLst>
              <p:tags r:id="rId18"/>
            </p:custDataLst>
          </p:nvPr>
        </p:nvSpPr>
        <p:spPr>
          <a:xfrm>
            <a:off x="6080760" y="5449824"/>
            <a:ext cx="457200" cy="457200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31" name="Text 28"/>
          <p:cNvSpPr/>
          <p:nvPr>
            <p:custDataLst>
              <p:tags r:id="rId19"/>
            </p:custDataLst>
          </p:nvPr>
        </p:nvSpPr>
        <p:spPr>
          <a:xfrm>
            <a:off x="6080760" y="54498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29"/>
          <p:cNvSpPr/>
          <p:nvPr>
            <p:custDataLst>
              <p:tags r:id="rId20"/>
            </p:custDataLst>
          </p:nvPr>
        </p:nvSpPr>
        <p:spPr>
          <a:xfrm>
            <a:off x="6720840" y="53949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 Anan</a:t>
            </a:r>
            <a:endParaRPr lang="en-US" sz="1600" dirty="0"/>
          </a:p>
        </p:txBody>
      </p:sp>
      <p:sp>
        <p:nvSpPr>
          <p:cNvPr id="33" name="Text 30"/>
          <p:cNvSpPr/>
          <p:nvPr>
            <p:custDataLst>
              <p:tags r:id="rId21"/>
            </p:custDataLst>
          </p:nvPr>
        </p:nvSpPr>
        <p:spPr>
          <a:xfrm>
            <a:off x="6720840" y="570585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852160" y="6190488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Names are placeholders — replace with the group's details before submission.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project does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robot-motion pipeline: from joint angles to end-effector poses, back to the joint angles needed for target points, then smooth motion between them under a feedback controller — verified at every step.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770632"/>
            <a:ext cx="548640" cy="548640"/>
          </a:xfrm>
          <a:prstGeom prst="ellipse">
            <a:avLst/>
          </a:prstGeom>
          <a:solidFill>
            <a:srgbClr val="14B8A6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icons/cube_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2913278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0" y="269748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2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8952" y="34290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Model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58952" y="377647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UR5 — 6 revolute joints, tool0 end-effector frame.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79392" y="251460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35424" y="2770632"/>
            <a:ext cx="548640" cy="548640"/>
          </a:xfrm>
          <a:prstGeom prst="ellipse">
            <a:avLst/>
          </a:prstGeom>
          <a:solidFill>
            <a:srgbClr val="14B8A6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1" descr="icons/fk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070" y="2913278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68312" y="269748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2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535424" y="34290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Forward Kinematics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4535424" y="377647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Joint angles → end-effector position &amp; orientation. Always solvable.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55864" y="251460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11896" y="2770632"/>
            <a:ext cx="548640" cy="548640"/>
          </a:xfrm>
          <a:prstGeom prst="ellipse">
            <a:avLst/>
          </a:prstGeom>
          <a:solidFill>
            <a:srgbClr val="F59E0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2" descr="icons/ik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542" y="2913278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844784" y="269748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2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311896" y="34290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Inverse Kinematics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8311896" y="377647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pose → joint angles. Solved numerically, then verified.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02920" y="434340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58952" y="4599432"/>
            <a:ext cx="548640" cy="548640"/>
          </a:xfrm>
          <a:prstGeom prst="ellipse">
            <a:avLst/>
          </a:prstGeom>
          <a:solidFill>
            <a:srgbClr val="14B8A6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3" descr="icons/route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98" y="4742078"/>
            <a:ext cx="263347" cy="26334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291840" y="452628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2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758952" y="52578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Trajectory</a:t>
            </a:r>
            <a:endParaRPr lang="en-US" sz="1650" dirty="0"/>
          </a:p>
        </p:txBody>
      </p:sp>
      <p:sp>
        <p:nvSpPr>
          <p:cNvPr id="29" name="Text 23"/>
          <p:cNvSpPr/>
          <p:nvPr/>
        </p:nvSpPr>
        <p:spPr>
          <a:xfrm>
            <a:off x="758952" y="560527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Quintic path through Home→T1→T2→Home. Smooth start/stop.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279392" y="434340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35424" y="4599432"/>
            <a:ext cx="548640" cy="548640"/>
          </a:xfrm>
          <a:prstGeom prst="ellipse">
            <a:avLst/>
          </a:prstGeom>
          <a:solidFill>
            <a:srgbClr val="14B8A6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age 4" descr="icons/control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8070" y="4742078"/>
            <a:ext cx="263347" cy="26334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068312" y="452628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2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Text 27"/>
          <p:cNvSpPr/>
          <p:nvPr/>
        </p:nvSpPr>
        <p:spPr>
          <a:xfrm>
            <a:off x="4535424" y="52578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PD Control</a:t>
            </a:r>
            <a:endParaRPr lang="en-US" sz="1650" dirty="0"/>
          </a:p>
        </p:txBody>
      </p:sp>
      <p:sp>
        <p:nvSpPr>
          <p:cNvPr id="35" name="Text 28"/>
          <p:cNvSpPr/>
          <p:nvPr/>
        </p:nvSpPr>
        <p:spPr>
          <a:xfrm>
            <a:off x="4535424" y="560527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 controller drives a motor model to follow the plan.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8055864" y="434340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311896" y="4599432"/>
            <a:ext cx="548640" cy="548640"/>
          </a:xfrm>
          <a:prstGeom prst="ellipse">
            <a:avLst/>
          </a:prstGeom>
          <a:solidFill>
            <a:srgbClr val="14B8A6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8" name="Image 5" descr="icons/chart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4542" y="4742078"/>
            <a:ext cx="263347" cy="263347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844784" y="452628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2E8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2200" dirty="0"/>
          </a:p>
        </p:txBody>
      </p:sp>
      <p:sp>
        <p:nvSpPr>
          <p:cNvPr id="40" name="Text 32"/>
          <p:cNvSpPr/>
          <p:nvPr/>
        </p:nvSpPr>
        <p:spPr>
          <a:xfrm>
            <a:off x="8311896" y="52578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Analysis</a:t>
            </a:r>
            <a:endParaRPr lang="en-US" sz="1650" dirty="0"/>
          </a:p>
        </p:txBody>
      </p:sp>
      <p:sp>
        <p:nvSpPr>
          <p:cNvPr id="41" name="Text 33"/>
          <p:cNvSpPr/>
          <p:nvPr/>
        </p:nvSpPr>
        <p:spPr>
          <a:xfrm>
            <a:off x="8311896" y="560527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desired vs actual, quantify tracking error, animate.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 MODEL &amp; FORWARD KINEMATICS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UR5 and its poses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80160" y="1463040"/>
            <a:ext cx="9601200" cy="3861582"/>
          </a:xfrm>
          <a:prstGeom prst="roundRect">
            <a:avLst>
              <a:gd name="adj" fmla="val 18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figs/fig_robot_config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00200"/>
            <a:ext cx="9326880" cy="35872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572000"/>
            <a:ext cx="3703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4828032"/>
            <a:ext cx="502920" cy="502920"/>
          </a:xfrm>
          <a:prstGeom prst="ellipse">
            <a:avLst/>
          </a:prstGeom>
          <a:solidFill>
            <a:srgbClr val="14B8A6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icons/cube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" y="4958791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" y="544068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 revolute joints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58952" y="576072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UR5 loaded via loadrobot("universalUR5"); tool0 is the end-effector frame.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70832" y="4572000"/>
            <a:ext cx="3703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26864" y="4828032"/>
            <a:ext cx="502920" cy="502920"/>
          </a:xfrm>
          <a:prstGeom prst="ellipse">
            <a:avLst/>
          </a:prstGeom>
          <a:solidFill>
            <a:srgbClr val="14B8A6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2" descr="icons/fk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623" y="4958791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26864" y="544068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FK = matrix chain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626864" y="576072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getTransform multiplies each joint transform → EE pose. No ambiguity.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238744" y="4572000"/>
            <a:ext cx="3703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494776" y="4828032"/>
            <a:ext cx="502920" cy="502920"/>
          </a:xfrm>
          <a:prstGeom prst="ellipse">
            <a:avLst/>
          </a:prstGeom>
          <a:solidFill>
            <a:srgbClr val="14B8A6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3" descr="icons/check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535" y="4958791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94776" y="544068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configs tested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494776" y="576072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 A [0,0,0,0,0,0] and Config B verify the mapping produces distinct poses.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INVERSE KINEMATICS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target point to joint angles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HARD DIRECTION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901952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IK reverses the problem: given where the tool must be, find the joint angles.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553212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Iterative solver.  </a:t>
            </a: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inverseKinematics starts from a seed guess and nudges the joints until FK matches the target.
</a:t>
            </a:r>
            <a:r>
              <a:rPr lang="en-US" sz="135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Seeded sequentially.  </a:t>
            </a: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1 seeds from Home; Target 2 seeds from Target 1 — giving a natural, continuous path.
</a:t>
            </a:r>
            <a:r>
              <a:rPr lang="en-US" sz="135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Weights [0.25 0.25 0.25 1 1 1].  </a:t>
            </a: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Position matched ~4× more strictly than orientation.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0B2A3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1920240"/>
            <a:ext cx="548640" cy="548640"/>
          </a:xfrm>
          <a:prstGeom prst="ellipse">
            <a:avLst/>
          </a:prstGeom>
          <a:solidFill>
            <a:srgbClr val="0F766E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0" descr="icons/chec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326" y="2062886"/>
            <a:ext cx="263347" cy="2633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69480" y="1965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Closed-loop verification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83680" y="260604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IK result is fed back into FK and compared to the original target.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83680" y="30632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&lt; 10⁻⁶ m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9144000" y="31089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residual position error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(both targets)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39776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7960" y="4206240"/>
            <a:ext cx="457200" cy="457200"/>
          </a:xfrm>
          <a:prstGeom prst="ellipse">
            <a:avLst/>
          </a:prstGeom>
          <a:solidFill>
            <a:srgbClr val="F59E0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1" descr="icons/target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432511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86600" y="42519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Target 1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537960" y="48006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p₁ = (−0.45, 0.20, 0.35) m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537960" y="52578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 pointing straight down (180° about X).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9052560" y="39776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281160" y="4206240"/>
            <a:ext cx="457200" cy="457200"/>
          </a:xfrm>
          <a:prstGeom prst="ellipse">
            <a:avLst/>
          </a:prstGeom>
          <a:solidFill>
            <a:srgbClr val="F59E0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2" descr="icons/target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4325112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829800" y="42519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Target 2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9281160" y="48006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p₂ = (−0.50, −0.10, 0.55) m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9281160" y="52578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tool-down orientation, higher &amp; offset.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TRAJECTORY PLANNING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Quintic polynomial — smooth motion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498348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figs/fig_trajecto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4709160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691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→ T1 → T2 → HOME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2160" y="1938528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a 5th-order polynomial?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852160" y="246888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interpolation snaps velocity at each waypoint — infinite acceleration no motor can produce. A quintic fixes six boundary conditions per segment so position, velocity and acceleration are all continuous.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852160" y="352044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3520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 = start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90688" y="352044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90688" y="3520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 = end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729216" y="352044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29216" y="3520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vel = 0 start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52160" y="4087368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0" y="40873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vel = 0 end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90688" y="4087368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90688" y="40873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 = 0 start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729216" y="4087368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729216" y="40873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 = 0 end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852160" y="4846320"/>
            <a:ext cx="5806440" cy="1371600"/>
          </a:xfrm>
          <a:prstGeom prst="roundRect">
            <a:avLst>
              <a:gd name="adj" fmla="val 5333"/>
            </a:avLst>
          </a:prstGeom>
          <a:solidFill>
            <a:srgbClr val="0B2A3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08192" y="5102352"/>
            <a:ext cx="502920" cy="502920"/>
          </a:xfrm>
          <a:prstGeom prst="ellipse">
            <a:avLst/>
          </a:prstGeom>
          <a:solidFill>
            <a:srgbClr val="0F766E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4" name="Image 1" descr="icons/wave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951" y="5233111"/>
            <a:ext cx="241402" cy="24140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766560" y="5029200"/>
            <a:ext cx="4709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Velocity &amp; acceleration return to zero at every waypoint (dashed lines) — the arm eases in and eases out at each stop, exactly like a real robot.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JOINT MOTOR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Simulating a real controller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0B2A3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745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Motor model (per joint)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 · q̈  +  B · q̇  =  u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 control law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 = Kₚ (q_des − q)  +  K_d (q̇_des − q̇)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79222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Proportional  (Kₚ)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17627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Pushes harder the further the joint lags behind its target.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287000" y="1956816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4F7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7000" y="1956816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Kp = 120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28346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298094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Derivative  (K_d)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336499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Reacts to velocity error — damps overshoot and oscillation.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87000" y="3145536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4F7F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0" y="3145536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Kd = 22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1148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" y="4370832"/>
            <a:ext cx="457200" cy="457200"/>
          </a:xfrm>
          <a:prstGeom prst="ellipse">
            <a:avLst/>
          </a:prstGeom>
          <a:solidFill>
            <a:srgbClr val="14B8A6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0" descr="icons/cogs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4489704"/>
            <a:ext cx="219456" cy="21945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25880" y="43891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Simulation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58952" y="4892040"/>
            <a:ext cx="50292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Parameters:  </a:t>
            </a: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 = 1.0,  B = 2.0,  applied to all 6 joints.
</a:t>
            </a:r>
            <a:r>
              <a:rPr lang="en-US" sz="13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Integration:  </a:t>
            </a: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semi-implicit Euler, dt = 0.002 s (500 Hz, 3000 steps).
</a:t>
            </a:r>
            <a:r>
              <a:rPr lang="en-US" sz="13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 </a:t>
            </a: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qActual — the simulated 'real' response of the arm.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263640" y="41148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19672" y="4370832"/>
            <a:ext cx="457200" cy="457200"/>
          </a:xfrm>
          <a:prstGeom prst="ellipse">
            <a:avLst/>
          </a:prstGeom>
          <a:solidFill>
            <a:srgbClr val="F59E0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1" descr="icons/war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4489704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086600" y="43891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Stated limitation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519672" y="489204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Joints are treated as rigid and decoupled — no gravity, Coriolis or friction coupling between links. A deliberate pedagogical simplification, not a full UR5 dynamic model.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— TRACKING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Desired vs. actual, all 6 joints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7955280" cy="4410540"/>
          </a:xfrm>
          <a:prstGeom prst="roundRect">
            <a:avLst>
              <a:gd name="adj" fmla="val 16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figs/fig_desired_vs_actu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7680960" cy="41362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737360"/>
            <a:ext cx="3108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778240" y="2011680"/>
            <a:ext cx="457200" cy="457200"/>
          </a:xfrm>
          <a:prstGeom prst="ellipse">
            <a:avLst/>
          </a:prstGeom>
          <a:solidFill>
            <a:srgbClr val="2563EB"/>
          </a:solidFill>
        </p:spPr>
      </p:sp>
      <p:pic>
        <p:nvPicPr>
          <p:cNvPr id="9" name="Image 1" descr="icons/chart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21214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72600" y="19202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Blue = desired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372600" y="226771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ideal quintic plan for each joint.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549640" y="2852928"/>
            <a:ext cx="3108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778240" y="3127248"/>
            <a:ext cx="457200" cy="457200"/>
          </a:xfrm>
          <a:prstGeom prst="ellipse">
            <a:avLst/>
          </a:prstGeom>
          <a:solidFill>
            <a:srgbClr val="DC2626"/>
          </a:solidFill>
        </p:spPr>
      </p:sp>
      <p:pic>
        <p:nvPicPr>
          <p:cNvPr id="14" name="Image 2" descr="icons/chart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323697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72600" y="303580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Red = actual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9372600" y="338328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PD-controlled response (qActual).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549640" y="3968496"/>
            <a:ext cx="3108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778240" y="4242816"/>
            <a:ext cx="457200" cy="457200"/>
          </a:xfrm>
          <a:prstGeom prst="ellipse">
            <a:avLst/>
          </a:prstGeom>
          <a:solidFill>
            <a:srgbClr val="14B8A6"/>
          </a:solidFill>
        </p:spPr>
      </p:sp>
      <p:pic>
        <p:nvPicPr>
          <p:cNvPr id="19" name="Image 3" descr="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4352544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72600" y="415137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Near-perfect overlap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9372600" y="4498848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Controller tracks the plan closely on every joint.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8549640" y="5084064"/>
            <a:ext cx="3108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778240" y="5358384"/>
            <a:ext cx="457200" cy="457200"/>
          </a:xfrm>
          <a:prstGeom prst="ellipse">
            <a:avLst/>
          </a:prstGeom>
          <a:solidFill>
            <a:srgbClr val="14B8A6"/>
          </a:solidFill>
        </p:spPr>
      </p:sp>
      <p:pic>
        <p:nvPicPr>
          <p:cNvPr id="24" name="Image 4" descr="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5468112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372600" y="5266944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Joint 5 ≈ flat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9372600" y="5614416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barely moves in this path (tiny 1e-7 scale).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— WORST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Joint 6: the fastest, hardest to track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6309360" cy="4967197"/>
          </a:xfrm>
          <a:prstGeom prst="roundRect">
            <a:avLst>
              <a:gd name="adj" fmla="val 14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figs/fig_joint_deta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035040" cy="46928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0" y="1737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ISOLATE JOINT 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40880" y="1993392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largest-motion joint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040880" y="2487168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J6 sweeps the widest range, so it moves fastest and is the hardest for the controller to follow. Showing it proves the results aren't hiding the weakest joint.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040880" y="361188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0B2A3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40880" y="37947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≈ 89°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040880" y="43708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range of motion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418320" y="361188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0B2A3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418320" y="37947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≈ 1.8°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9418320" y="437083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 tracking error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040880" y="5120640"/>
            <a:ext cx="4617720" cy="109728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269480" y="525780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the lower panel:  </a:t>
            </a:r>
            <a:r>
              <a:rPr lang="en-US" sz="12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grows during fast motion and returns to zero at each waypoint — exactly the expected PD behaviour.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08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— ERROR PROFILE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Tracking error, all joints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7040880" cy="4410359"/>
          </a:xfrm>
          <a:prstGeom prst="roundRect">
            <a:avLst>
              <a:gd name="adj" fmla="val 16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figs/fig_tracking_err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6766560" cy="41360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7830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36992" y="2039112"/>
            <a:ext cx="457200" cy="457200"/>
          </a:xfrm>
          <a:prstGeom prst="ellipse">
            <a:avLst/>
          </a:prstGeom>
          <a:solidFill>
            <a:srgbClr val="14B8A6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icons/target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215798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03920" y="205740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Zero at waypoints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936992" y="2560320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t = 0, 2, 4, 6 s velocity is zero, so the controller has fully caught up — error vanishes.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680960" y="32918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36992" y="3547872"/>
            <a:ext cx="457200" cy="457200"/>
          </a:xfrm>
          <a:prstGeom prst="ellipse">
            <a:avLst/>
          </a:prstGeom>
          <a:solidFill>
            <a:srgbClr val="14B8A6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2" descr="icons/wave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366674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03920" y="356616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Peaks mid-segment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936992" y="4069080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grows during the fastest motion — a feedback controller must lag slightly before it corrects.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680960" y="48006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936992" y="5056632"/>
            <a:ext cx="457200" cy="457200"/>
          </a:xfrm>
          <a:prstGeom prst="ellipse">
            <a:avLst/>
          </a:prstGeom>
          <a:solidFill>
            <a:srgbClr val="14B8A6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3" descr="icons/chart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5175504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03920" y="50749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J6 worst, J5 flat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936992" y="5577840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Brown (J6) has the largest peak (~1.8°); purple (J5) stays at zero — it barely moves.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09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Controlled motion with qActual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4846320" cy="4274320"/>
          </a:xfrm>
          <a:prstGeom prst="roundRect">
            <a:avLst>
              <a:gd name="adj" fmla="val 17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figs/fig_anim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4572000" cy="4000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 R9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2160" y="2029968"/>
            <a:ext cx="5806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robot moves — driven by the real response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852160" y="29718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animation replays the arm through the full Home→T1→T2→Home path using qActual — the PD-controlled response, not the idealised plan. This shows what the robot would genuinely do under this controller.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52160" y="411480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80760" y="4343400"/>
            <a:ext cx="457200" cy="457200"/>
          </a:xfrm>
          <a:prstGeom prst="ellipse">
            <a:avLst/>
          </a:prstGeom>
          <a:solidFill>
            <a:srgbClr val="DC2626"/>
          </a:solidFill>
        </p:spPr>
      </p:sp>
      <p:pic>
        <p:nvPicPr>
          <p:cNvPr id="12" name="Image 1" descr="icons/route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44531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75120" y="42976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Red curve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675120" y="461772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End-effector path in 3D space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869680" y="411480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098280" y="4343400"/>
            <a:ext cx="457200" cy="457200"/>
          </a:xfrm>
          <a:prstGeom prst="ellipse">
            <a:avLst/>
          </a:prstGeom>
          <a:solidFill>
            <a:srgbClr val="14B8A6"/>
          </a:solidFill>
        </p:spPr>
      </p:sp>
      <p:pic>
        <p:nvPicPr>
          <p:cNvPr id="17" name="Image 2" descr="icons/robo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08" y="445312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92640" y="42976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Arm poses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692640" y="461772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Snapshots sampled over time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852160" y="5532120"/>
            <a:ext cx="5806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Tip: for the live demo, screen-record the MATLAB animation window.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10394D"/>
          </a:solidFill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REFLECTION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numbers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10394D"/>
          </a:solidFill>
          <a:ln w="12700">
            <a:solidFill>
              <a:srgbClr val="0F766E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4884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&lt; 10⁻⁶ 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 residual error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10394D"/>
          </a:solidFill>
          <a:ln w="12700">
            <a:solidFill>
              <a:srgbClr val="0F766E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14884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&lt; 0.8°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20440" y="292608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RMS tracking / joint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10394D"/>
          </a:solidFill>
          <a:ln w="12700">
            <a:solidFill>
              <a:srgbClr val="0F766E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14884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≈ 1.8°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0" y="292608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 error (Joint 6)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281160" y="1828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10394D"/>
          </a:solidFill>
          <a:ln w="12700">
            <a:solidFill>
              <a:srgbClr val="0F766E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81160" y="214884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 / 6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281160" y="292608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joints under PD control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0394D"/>
          </a:solidFill>
        </p:spPr>
      </p:sp>
      <p:sp>
        <p:nvSpPr>
          <p:cNvPr id="18" name="Shape 16"/>
          <p:cNvSpPr/>
          <p:nvPr/>
        </p:nvSpPr>
        <p:spPr>
          <a:xfrm>
            <a:off x="868680" y="4123944"/>
            <a:ext cx="457200" cy="457200"/>
          </a:xfrm>
          <a:prstGeom prst="ellipse">
            <a:avLst/>
          </a:prstGeom>
          <a:solidFill>
            <a:srgbClr val="0F766E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0" descr="icons/chec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242816"/>
            <a:ext cx="219456" cy="21945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63040" y="406908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FK &amp; IK round-trip correctly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760720" y="4069080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 solutions reproduce the targets to sub-millimetre accuracy.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" y="481888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0394D"/>
          </a:solidFill>
        </p:spPr>
      </p:sp>
      <p:sp>
        <p:nvSpPr>
          <p:cNvPr id="23" name="Shape 20"/>
          <p:cNvSpPr/>
          <p:nvPr/>
        </p:nvSpPr>
        <p:spPr>
          <a:xfrm>
            <a:off x="868680" y="4965192"/>
            <a:ext cx="457200" cy="457200"/>
          </a:xfrm>
          <a:prstGeom prst="ellipse">
            <a:avLst/>
          </a:prstGeom>
          <a:solidFill>
            <a:srgbClr val="0F766E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4" name="Image 1" descr="icons/chec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5084064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463040" y="4910328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Motion is smooth &amp; jerk-free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5760720" y="4910328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Quintic trajectory stops cleanly at every waypoint.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40080" y="5660136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0394D"/>
          </a:solidFill>
        </p:spPr>
      </p:sp>
      <p:sp>
        <p:nvSpPr>
          <p:cNvPr id="28" name="Shape 24"/>
          <p:cNvSpPr/>
          <p:nvPr/>
        </p:nvSpPr>
        <p:spPr>
          <a:xfrm>
            <a:off x="868680" y="5806440"/>
            <a:ext cx="457200" cy="457200"/>
          </a:xfrm>
          <a:prstGeom prst="ellipse">
            <a:avLst/>
          </a:prstGeom>
          <a:solidFill>
            <a:srgbClr val="0F766E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9" name="Image 2" descr="icons/check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5925312"/>
            <a:ext cx="219456" cy="21945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463040" y="5751576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PD tracks with small, sensible error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5760720" y="5751576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concentrates in fast phases, vanishes at rest — physically correct.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REFLECTION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93852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model simplifies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679192"/>
            <a:ext cx="438912" cy="438912"/>
          </a:xfrm>
          <a:prstGeom prst="ellipse">
            <a:avLst/>
          </a:prstGeom>
          <a:solidFill>
            <a:srgbClr val="F59E0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icons/warn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637" y="2793309"/>
            <a:ext cx="210678" cy="2106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60604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Decoupled joints — no gravity, Coriolis or friction coupling.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3547872"/>
            <a:ext cx="438912" cy="438912"/>
          </a:xfrm>
          <a:prstGeom prst="ellipse">
            <a:avLst/>
          </a:prstGeom>
          <a:solidFill>
            <a:srgbClr val="F59E0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1" descr="icons/warn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637" y="3661989"/>
            <a:ext cx="210678" cy="21067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347472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PD gains, tuned by hand rather than optimised.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2920" y="425196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4416552"/>
            <a:ext cx="438912" cy="438912"/>
          </a:xfrm>
          <a:prstGeom prst="ellipse">
            <a:avLst/>
          </a:prstGeom>
          <a:solidFill>
            <a:srgbClr val="F59E0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2" descr="icons/warn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637" y="4530669"/>
            <a:ext cx="210678" cy="21067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434340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IK solution per target (no elbow-up / elbow-down search).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02920" y="51206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5285232"/>
            <a:ext cx="438912" cy="438912"/>
          </a:xfrm>
          <a:prstGeom prst="ellipse">
            <a:avLst/>
          </a:prstGeom>
          <a:solidFill>
            <a:srgbClr val="F59E0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3" descr="icons/warn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637" y="5399349"/>
            <a:ext cx="210678" cy="2106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21208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Ideal actuators — no torque limits, backlash or sensor noise.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355080" y="1691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355080" y="193852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to extend it</a:t>
            </a:r>
            <a:endParaRPr lang="en-US" sz="1900" dirty="0"/>
          </a:p>
        </p:txBody>
      </p:sp>
      <p:sp>
        <p:nvSpPr>
          <p:cNvPr id="25" name="Shape 19"/>
          <p:cNvSpPr/>
          <p:nvPr/>
        </p:nvSpPr>
        <p:spPr>
          <a:xfrm>
            <a:off x="6355080" y="25146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583680" y="2679192"/>
            <a:ext cx="438912" cy="438912"/>
          </a:xfrm>
          <a:prstGeom prst="ellipse">
            <a:avLst/>
          </a:prstGeom>
          <a:solidFill>
            <a:srgbClr val="14B8A6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4" descr="icons/check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797" y="2793309"/>
            <a:ext cx="210678" cy="21067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78040" y="2606040"/>
            <a:ext cx="4297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full rigid-body dynamics (inverseDynamics) with gravity.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355080" y="338328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83680" y="3547872"/>
            <a:ext cx="438912" cy="438912"/>
          </a:xfrm>
          <a:prstGeom prst="ellipse">
            <a:avLst/>
          </a:prstGeom>
          <a:solidFill>
            <a:srgbClr val="14B8A6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5" descr="icons/check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797" y="3661989"/>
            <a:ext cx="210678" cy="21067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3474720"/>
            <a:ext cx="4297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Computed-torque or PID control for tighter tracking.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6355080" y="425196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583680" y="4416552"/>
            <a:ext cx="438912" cy="438912"/>
          </a:xfrm>
          <a:prstGeom prst="ellipse">
            <a:avLst/>
          </a:prstGeom>
          <a:solidFill>
            <a:srgbClr val="14B8A6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5" name="Image 6" descr="icons/check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797" y="4530669"/>
            <a:ext cx="210678" cy="21067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178040" y="4343400"/>
            <a:ext cx="4297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Cartesian-space (task-space) trajectory instead of joint-space.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6355080" y="512064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6583680" y="5285232"/>
            <a:ext cx="438912" cy="438912"/>
          </a:xfrm>
          <a:prstGeom prst="ellipse">
            <a:avLst/>
          </a:prstGeom>
          <a:solidFill>
            <a:srgbClr val="14B8A6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9" name="Image 7" descr="icons/check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797" y="5399349"/>
            <a:ext cx="210678" cy="21067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178040" y="5212080"/>
            <a:ext cx="4297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Collision checking and workspace-limit validation.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577840"/>
            <a:ext cx="12161520" cy="1280160"/>
          </a:xfrm>
          <a:prstGeom prst="rect">
            <a:avLst/>
          </a:prstGeom>
          <a:solidFill>
            <a:srgbClr val="10394D"/>
          </a:solidFill>
        </p:spPr>
      </p:sp>
      <p:sp>
        <p:nvSpPr>
          <p:cNvPr id="3" name="Shape 1"/>
          <p:cNvSpPr/>
          <p:nvPr/>
        </p:nvSpPr>
        <p:spPr>
          <a:xfrm>
            <a:off x="640080" y="1371600"/>
            <a:ext cx="822960" cy="822960"/>
          </a:xfrm>
          <a:prstGeom prst="ellipse">
            <a:avLst/>
          </a:prstGeom>
          <a:solidFill>
            <a:srgbClr val="0F766E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" name="Image 0" descr="icons/robot_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58557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46888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58368" y="35661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UR5 Manipulator Kinematics, Trajectory Planning &amp; Joint-Level Control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42976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10394D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4074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FK → IK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47731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&lt; 10⁻⁶ 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42976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10394D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44074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Quintic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617720" y="47731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smooth, jerk-free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6720" y="42976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10394D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44074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PD × 6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321040" y="47731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RMS &lt; 0.8°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MDM-M-1 · Digital Tools in Development and Production · SS26</a:t>
            </a:r>
            <a:endParaRPr lang="en-US" sz="13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2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3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4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5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6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7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8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9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10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11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12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13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14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15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16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17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18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19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ags/tag20.xml><?xml version="1.0" encoding="utf-8"?>
<p:tagLst xmlns:p="http://schemas.openxmlformats.org/presentationml/2006/main">
  <p:tag name="KSO_WM_DIAGRAM_VIRTUALLY_FRAME" val="{&quot;height&quot;:264.23999999999995,&quot;left&quot;:460.8,&quot;top&quot;:212.4,&quot;width&quot;:457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6441</Words>
  <Application>WPS Presentation</Application>
  <PresentationFormat>On-screen Show (16:9)</PresentationFormat>
  <Paragraphs>386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UR5 Manipulator Kinematics, Trajectory Planning &amp; Joint Control</dc:title>
  <dc:creator>MDM-M-1 Group</dc:creator>
  <dc:subject>PptxGenJS Presentation</dc:subject>
  <cp:lastModifiedBy>Mostafa Mohamed Ali</cp:lastModifiedBy>
  <cp:revision>2</cp:revision>
  <dcterms:created xsi:type="dcterms:W3CDTF">2026-07-01T06:22:00Z</dcterms:created>
  <dcterms:modified xsi:type="dcterms:W3CDTF">2026-07-01T21:26:50Z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A853B31BA82D4288BA61C5135071E1F4_12</vt:lpwstr>
  </property>
  <property fmtid="{D5CDD505-2E9C-101B-9397-08002B2CF9AE}" pid="3" name="KSOProductBuildVer">
    <vt:lpwstr>2057-12.2.0.23203</vt:lpwstr>
  </property>
</Properties>
</file>